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8"/>
  </p:notesMasterIdLst>
  <p:sldIdLst>
    <p:sldId id="539" r:id="rId3"/>
    <p:sldId id="260" r:id="rId4"/>
    <p:sldId id="289" r:id="rId5"/>
    <p:sldId id="568" r:id="rId6"/>
    <p:sldId id="569" r:id="rId7"/>
    <p:sldId id="570" r:id="rId8"/>
    <p:sldId id="571" r:id="rId9"/>
    <p:sldId id="572" r:id="rId10"/>
    <p:sldId id="573" r:id="rId11"/>
    <p:sldId id="574" r:id="rId12"/>
    <p:sldId id="575" r:id="rId13"/>
    <p:sldId id="576" r:id="rId14"/>
    <p:sldId id="577" r:id="rId15"/>
    <p:sldId id="578" r:id="rId16"/>
    <p:sldId id="5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26" autoAdjust="0"/>
    <p:restoredTop sz="94660"/>
  </p:normalViewPr>
  <p:slideViewPr>
    <p:cSldViewPr snapToGrid="0">
      <p:cViewPr varScale="1">
        <p:scale>
          <a:sx n="61" d="100"/>
          <a:sy n="61" d="100"/>
        </p:scale>
        <p:origin x="10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3C8053-C215-4F1B-B034-F2CEC3A12651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586552-9209-4EF2-8CFF-E55CDE485F8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8415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81;p1:notes">
            <a:extLst>
              <a:ext uri="{FF2B5EF4-FFF2-40B4-BE49-F238E27FC236}">
                <a16:creationId xmlns:a16="http://schemas.microsoft.com/office/drawing/2014/main" id="{6239290D-3E94-FAD0-7910-CDA7DFA9C4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4343400"/>
            <a:ext cx="5486400" cy="411480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16387" name="Google Shape;82;p1:notes">
            <a:extLst>
              <a:ext uri="{FF2B5EF4-FFF2-40B4-BE49-F238E27FC236}">
                <a16:creationId xmlns:a16="http://schemas.microsoft.com/office/drawing/2014/main" id="{1D7A565E-33A6-6574-9D57-CFC2299100B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custGeom>
            <a:avLst/>
            <a:gdLst>
              <a:gd name="T0" fmla="*/ 0 w 120000"/>
              <a:gd name="T1" fmla="*/ 0 h 120000"/>
              <a:gd name="T2" fmla="*/ 6096000 w 120000"/>
              <a:gd name="T3" fmla="*/ 0 h 120000"/>
              <a:gd name="T4" fmla="*/ 6096000 w 120000"/>
              <a:gd name="T5" fmla="*/ 3429000 h 120000"/>
              <a:gd name="T6" fmla="*/ 0 w 120000"/>
              <a:gd name="T7" fmla="*/ 3429000 h 120000"/>
              <a:gd name="T8" fmla="*/ 0 w 120000"/>
              <a:gd name="T9" fmla="*/ 0 h 12000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4097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9978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3011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1695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38419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93706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4946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67718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4330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9661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270610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37599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586552-9209-4EF2-8CFF-E55CDE485F81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62552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3907A-1C36-3163-8823-398418319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8931A-C565-4B1C-A936-B5CA39C7CD04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15672E-874D-F919-479C-F31C3BA8D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98ECE-D04C-C905-0358-5B5D39EB6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6BF32D-9D31-4CD0-8B17-4D91DA246A6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3226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9801D7-1939-0553-5E67-A22FC28FB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87D29A-0C92-4523-9896-D9652EC576B2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C8B85-1B14-EE11-13F3-127FED42A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F23CF1-EBBD-A551-2A94-5F2759A6C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5D0544-02C6-4C17-909A-13488D02DF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1893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BCEC3E-474D-98B2-3DD8-0EC2FF8557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420673-274D-4247-8161-F61D3918377A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28E6C9-CE10-54A4-6BF2-3C3035944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E9F0-4F49-EB73-7BA3-253B9F8DD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455397-1D80-4F70-B204-8003AEC844F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77019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F3347DC-8727-FA52-4FB3-EE5F56087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945F1D-49E8-4AA5-A8D5-1F2A72032E7E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464574-2B9D-B193-E3D1-685B45C97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814629F-CF96-8490-DD5A-8503BD831A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21FACD-FEE9-420D-9319-52C846BCA4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130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CEACE3BD-2A0C-3143-4897-C3B07CFE63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843E46-4A0A-4700-BB68-A713045AC50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0446A335-4366-4386-F3DB-BFBE5534B5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B8C4C4E-AAC8-42C6-1613-DD4D6B7EC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39C8EB-1648-4CB3-B1E5-AF02A07CFF2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428290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B63E63F7-92CB-461C-9F5A-288ECCB5A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26748-7D61-4F99-BCB5-561B2FE29A7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E55E5BB-53D1-4D75-2095-0BE40C81A5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0F9A2BE-1BD1-1D98-0C9B-04ECC323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9382E88-B8D5-4CC6-A63E-A393B6012B2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00443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51534290-0A37-B6B5-FECC-D8098B248A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A8F073-1C86-4EAE-8379-A2D7EC9CB060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5D5B8E33-EEE4-B14A-5DD7-9AB6B8B7FE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5030C33-B194-8041-4198-76B96221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C356E0-C946-47CA-89DE-E46AEC71509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6726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E7F19-7B8D-7C13-C65A-C0B9FB1F0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A07218-745A-4FC1-A09B-6783154A3601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242A6CA-9380-BC38-7749-26166894E5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A137C3C-1528-39A5-2D44-3E37D4E2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EF6067-6868-471D-89D0-31576D514FC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3517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061425-9B74-76D6-1FE8-DA3A496D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B1DA97-5C18-459E-9042-212CCF63C04F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0CD01D3-2325-A61A-CE46-FC100BAE7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2CFFE4B-DD12-E0F2-761A-99A133B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6BADD7-0AAB-4DF4-A47E-DEFC59C867B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191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D64DB-4A11-4A09-0DCC-22DCD5F44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50980CB-B09E-44F2-B85A-CC28BFF3936C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92C25F-F2EA-6F3C-AA22-17672639A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07625-2F75-2E9C-173F-813E0BCA7A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EB05AD-D529-4C46-BA41-798F8AAE7F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88607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6307AB-A758-7ACF-1EF5-39524460A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04204F-497E-4357-BC10-5017874068A6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83595D-F878-D090-2021-A9C3B17B1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837D67-0477-0305-7A3A-F51005303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B7426-2160-4114-9A12-2143FC70264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739914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>
            <a:spLocks noGrp="1"/>
          </p:cNvSpPr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672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rgbClr val="888888"/>
              </a:buClr>
              <a:buSzPts val="30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504"/>
              </a:spcBef>
              <a:spcAft>
                <a:spcPts val="0"/>
              </a:spcAft>
              <a:buClr>
                <a:srgbClr val="888888"/>
              </a:buClr>
              <a:buSzPts val="252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14;p5">
            <a:extLst>
              <a:ext uri="{FF2B5EF4-FFF2-40B4-BE49-F238E27FC236}">
                <a16:creationId xmlns:a16="http://schemas.microsoft.com/office/drawing/2014/main" id="{DA90ECB4-5A99-18ED-D6A7-280396D61411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15;p5">
            <a:extLst>
              <a:ext uri="{FF2B5EF4-FFF2-40B4-BE49-F238E27FC236}">
                <a16:creationId xmlns:a16="http://schemas.microsoft.com/office/drawing/2014/main" id="{4E98BFAF-269A-752B-8FFA-422CB155D1F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16;p5">
            <a:extLst>
              <a:ext uri="{FF2B5EF4-FFF2-40B4-BE49-F238E27FC236}">
                <a16:creationId xmlns:a16="http://schemas.microsoft.com/office/drawing/2014/main" id="{209C6DAC-36B0-A431-08C5-015D8A87F9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32BFBD3-3A94-49FD-90AB-D2D0890F1E46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16997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"/>
          <p:cNvSpPr txBox="1">
            <a:spLocks noGrp="1"/>
          </p:cNvSpPr>
          <p:nvPr>
            <p:ph type="title"/>
          </p:nvPr>
        </p:nvSpPr>
        <p:spPr>
          <a:xfrm>
            <a:off x="963084" y="4406902"/>
            <a:ext cx="10363200" cy="1362076"/>
          </a:xfrm>
          <a:prstGeom prst="rect">
            <a:avLst/>
          </a:prstGeom>
          <a:noFill/>
          <a:ln>
            <a:noFill/>
          </a:ln>
        </p:spPr>
        <p:txBody>
          <a:bodyPr anchor="t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  <a:defRPr sz="42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marL="457200" lvl="0" indent="-228600" algn="l">
              <a:spcBef>
                <a:spcPts val="432"/>
              </a:spcBef>
              <a:spcAft>
                <a:spcPts val="0"/>
              </a:spcAft>
              <a:buClr>
                <a:srgbClr val="888888"/>
              </a:buClr>
              <a:buSzPts val="2160"/>
              <a:buNone/>
              <a:defRPr sz="216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84"/>
              </a:spcBef>
              <a:spcAft>
                <a:spcPts val="0"/>
              </a:spcAft>
              <a:buClr>
                <a:srgbClr val="888888"/>
              </a:buClr>
              <a:buSzPts val="1920"/>
              <a:buNone/>
              <a:defRPr sz="192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36"/>
              </a:spcBef>
              <a:spcAft>
                <a:spcPts val="0"/>
              </a:spcAft>
              <a:buClr>
                <a:srgbClr val="888888"/>
              </a:buClr>
              <a:buSzPts val="1680"/>
              <a:buNone/>
              <a:defRPr sz="167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8"/>
              </a:spcBef>
              <a:spcAft>
                <a:spcPts val="0"/>
              </a:spcAft>
              <a:buClr>
                <a:srgbClr val="888888"/>
              </a:buClr>
              <a:buSzPts val="1440"/>
              <a:buNone/>
              <a:defRPr sz="144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" name="Google Shape;26;p7">
            <a:extLst>
              <a:ext uri="{FF2B5EF4-FFF2-40B4-BE49-F238E27FC236}">
                <a16:creationId xmlns:a16="http://schemas.microsoft.com/office/drawing/2014/main" id="{9EEDF353-4C94-1A51-9B4E-266144ABD1CB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27;p7">
            <a:extLst>
              <a:ext uri="{FF2B5EF4-FFF2-40B4-BE49-F238E27FC236}">
                <a16:creationId xmlns:a16="http://schemas.microsoft.com/office/drawing/2014/main" id="{F972E414-C475-FD52-1DCC-A4C153BCD37D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28;p7">
            <a:extLst>
              <a:ext uri="{FF2B5EF4-FFF2-40B4-BE49-F238E27FC236}">
                <a16:creationId xmlns:a16="http://schemas.microsoft.com/office/drawing/2014/main" id="{3B75AAB7-8282-D53A-6274-FFF4F87D31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AAD0773F-BC41-4673-8580-9B75BA127ADF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125945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 Conte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•"/>
              <a:defRPr sz="3000"/>
            </a:lvl1pPr>
            <a:lvl2pPr marL="914400" lvl="1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–"/>
              <a:defRPr sz="2520"/>
            </a:lvl2pPr>
            <a:lvl3pPr marL="1371600" lvl="2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3pPr>
            <a:lvl4pPr marL="1828800" lvl="3" indent="-350519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–"/>
              <a:defRPr sz="1920"/>
            </a:lvl4pPr>
            <a:lvl5pPr marL="2286000" lvl="4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»"/>
              <a:defRPr sz="1920"/>
            </a:lvl5pPr>
            <a:lvl6pPr marL="2743200" lvl="5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6pPr>
            <a:lvl7pPr marL="3200400" lvl="6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7pPr>
            <a:lvl8pPr marL="3657600" lvl="7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8pPr>
            <a:lvl9pPr marL="4114800" lvl="8" indent="-350520" algn="l"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920"/>
              <a:buChar char="•"/>
              <a:defRPr sz="1920"/>
            </a:lvl9pPr>
          </a:lstStyle>
          <a:p>
            <a:endParaRPr/>
          </a:p>
        </p:txBody>
      </p:sp>
      <p:sp>
        <p:nvSpPr>
          <p:cNvPr id="2" name="Google Shape;33;p8">
            <a:extLst>
              <a:ext uri="{FF2B5EF4-FFF2-40B4-BE49-F238E27FC236}">
                <a16:creationId xmlns:a16="http://schemas.microsoft.com/office/drawing/2014/main" id="{0F873A22-B656-B70D-AE94-2F4A1E02829F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34;p8">
            <a:extLst>
              <a:ext uri="{FF2B5EF4-FFF2-40B4-BE49-F238E27FC236}">
                <a16:creationId xmlns:a16="http://schemas.microsoft.com/office/drawing/2014/main" id="{7F472728-65B9-BEA8-E2AB-50A7502E2B8F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35;p8">
            <a:extLst>
              <a:ext uri="{FF2B5EF4-FFF2-40B4-BE49-F238E27FC236}">
                <a16:creationId xmlns:a16="http://schemas.microsoft.com/office/drawing/2014/main" id="{C4CC17D8-46D2-D015-B142-41A7C8CA2B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31F808A-BE66-40C6-A28B-D1952CC78A5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623704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51;p11">
            <a:extLst>
              <a:ext uri="{FF2B5EF4-FFF2-40B4-BE49-F238E27FC236}">
                <a16:creationId xmlns:a16="http://schemas.microsoft.com/office/drawing/2014/main" id="{B8D0276B-A5BA-701B-29D0-8A840E481603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2;p11">
            <a:extLst>
              <a:ext uri="{FF2B5EF4-FFF2-40B4-BE49-F238E27FC236}">
                <a16:creationId xmlns:a16="http://schemas.microsoft.com/office/drawing/2014/main" id="{2CA0BFC4-CB42-33F6-DD82-90444FE9E527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53;p11">
            <a:extLst>
              <a:ext uri="{FF2B5EF4-FFF2-40B4-BE49-F238E27FC236}">
                <a16:creationId xmlns:a16="http://schemas.microsoft.com/office/drawing/2014/main" id="{EFB5FE0E-85F5-D188-5D1D-0CF289116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695F859B-F2B4-4294-AF96-B530928DD2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82653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609602" y="273051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4766736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441960" algn="l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59"/>
            </a:lvl1pPr>
            <a:lvl2pPr marL="914400" lvl="1" indent="-4191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Char char="–"/>
              <a:defRPr sz="3000"/>
            </a:lvl2pPr>
            <a:lvl3pPr marL="1371600" lvl="2" indent="-388619" algn="l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Char char="•"/>
              <a:defRPr sz="2520"/>
            </a:lvl3pPr>
            <a:lvl4pPr marL="1828800" lvl="3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–"/>
              <a:defRPr sz="2160"/>
            </a:lvl4pPr>
            <a:lvl5pPr marL="2286000" lvl="4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»"/>
              <a:defRPr sz="2160"/>
            </a:lvl5pPr>
            <a:lvl6pPr marL="2743200" lvl="5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6pPr>
            <a:lvl7pPr marL="3200400" lvl="6" indent="-365760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7pPr>
            <a:lvl8pPr marL="3657600" lvl="7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8pPr>
            <a:lvl9pPr marL="4114800" lvl="8" indent="-365759" algn="l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 sz="216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58;p12">
            <a:extLst>
              <a:ext uri="{FF2B5EF4-FFF2-40B4-BE49-F238E27FC236}">
                <a16:creationId xmlns:a16="http://schemas.microsoft.com/office/drawing/2014/main" id="{78EB4BF1-BC07-9A40-4FD1-AD2C8E2A778A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59;p12">
            <a:extLst>
              <a:ext uri="{FF2B5EF4-FFF2-40B4-BE49-F238E27FC236}">
                <a16:creationId xmlns:a16="http://schemas.microsoft.com/office/drawing/2014/main" id="{1689CE93-5AD8-9DEA-6A9B-F428A0FB2A13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0;p12">
            <a:extLst>
              <a:ext uri="{FF2B5EF4-FFF2-40B4-BE49-F238E27FC236}">
                <a16:creationId xmlns:a16="http://schemas.microsoft.com/office/drawing/2014/main" id="{86AFF95E-0204-1B12-9DC7-506EB65C43F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B946C5B2-E8B8-4013-A7F1-46B158A9F482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561432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="b"/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Calibri"/>
              <a:buNone/>
              <a:defRPr sz="216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228600" algn="l">
              <a:spcBef>
                <a:spcPts val="288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  <a:defRPr sz="1440"/>
            </a:lvl1pPr>
            <a:lvl2pPr marL="914400" lvl="1" indent="-228600" algn="l">
              <a:spcBef>
                <a:spcPts val="264"/>
              </a:spcBef>
              <a:spcAft>
                <a:spcPts val="0"/>
              </a:spcAft>
              <a:buClr>
                <a:schemeClr val="dk1"/>
              </a:buClr>
              <a:buSzPts val="1320"/>
              <a:buNone/>
              <a:defRPr sz="1320"/>
            </a:lvl2pPr>
            <a:lvl3pPr marL="1371600" lvl="2" indent="-228600" algn="l">
              <a:spcBef>
                <a:spcPts val="216"/>
              </a:spcBef>
              <a:spcAft>
                <a:spcPts val="0"/>
              </a:spcAft>
              <a:buClr>
                <a:schemeClr val="dk1"/>
              </a:buClr>
              <a:buSzPts val="1080"/>
              <a:buNone/>
              <a:defRPr sz="1080"/>
            </a:lvl3pPr>
            <a:lvl4pPr marL="1828800" lvl="3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4pPr>
            <a:lvl5pPr marL="2286000" lvl="4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5pPr>
            <a:lvl6pPr marL="2743200" lvl="5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6pPr>
            <a:lvl7pPr marL="3200400" lvl="6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7pPr>
            <a:lvl8pPr marL="3657600" lvl="7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8pPr>
            <a:lvl9pPr marL="4114800" lvl="8" indent="-228600" algn="l">
              <a:spcBef>
                <a:spcPts val="192"/>
              </a:spcBef>
              <a:spcAft>
                <a:spcPts val="0"/>
              </a:spcAft>
              <a:buClr>
                <a:schemeClr val="dk1"/>
              </a:buClr>
              <a:buSzPts val="960"/>
              <a:buNone/>
              <a:defRPr sz="960"/>
            </a:lvl9pPr>
          </a:lstStyle>
          <a:p>
            <a:endParaRPr/>
          </a:p>
        </p:txBody>
      </p:sp>
      <p:sp>
        <p:nvSpPr>
          <p:cNvPr id="2" name="Google Shape;65;p13">
            <a:extLst>
              <a:ext uri="{FF2B5EF4-FFF2-40B4-BE49-F238E27FC236}">
                <a16:creationId xmlns:a16="http://schemas.microsoft.com/office/drawing/2014/main" id="{6830560B-EC46-0D2D-393A-2FE48266FD45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66;p13">
            <a:extLst>
              <a:ext uri="{FF2B5EF4-FFF2-40B4-BE49-F238E27FC236}">
                <a16:creationId xmlns:a16="http://schemas.microsoft.com/office/drawing/2014/main" id="{C8DB439E-052B-358D-1FA5-E685A6392079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67;p13">
            <a:extLst>
              <a:ext uri="{FF2B5EF4-FFF2-40B4-BE49-F238E27FC236}">
                <a16:creationId xmlns:a16="http://schemas.microsoft.com/office/drawing/2014/main" id="{10608590-4128-59A2-58E9-A09775FEF5A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3E1E7C7B-C7D3-419A-A00C-6260B9E8BA37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5313483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Title and Vertical 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3833020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1;p14">
            <a:extLst>
              <a:ext uri="{FF2B5EF4-FFF2-40B4-BE49-F238E27FC236}">
                <a16:creationId xmlns:a16="http://schemas.microsoft.com/office/drawing/2014/main" id="{B9A4786C-67EA-6C04-CA3D-F992D59290ED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2;p14">
            <a:extLst>
              <a:ext uri="{FF2B5EF4-FFF2-40B4-BE49-F238E27FC236}">
                <a16:creationId xmlns:a16="http://schemas.microsoft.com/office/drawing/2014/main" id="{2AA6D83F-AFD4-54A0-CD63-BAB24C5CAAC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3;p14">
            <a:extLst>
              <a:ext uri="{FF2B5EF4-FFF2-40B4-BE49-F238E27FC236}">
                <a16:creationId xmlns:a16="http://schemas.microsoft.com/office/drawing/2014/main" id="{0762581D-3ED7-3FA0-E761-039876C13F4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456F98DD-0713-4981-BE72-6777F706CC00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163006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 Title and 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7285039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1697039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/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" name="Google Shape;77;p15">
            <a:extLst>
              <a:ext uri="{FF2B5EF4-FFF2-40B4-BE49-F238E27FC236}">
                <a16:creationId xmlns:a16="http://schemas.microsoft.com/office/drawing/2014/main" id="{17DA1089-C8A2-E22B-F7F8-36C6B7096E3C}"/>
              </a:ext>
            </a:extLst>
          </p:cNvPr>
          <p:cNvSpPr txBox="1">
            <a:spLocks noGrp="1"/>
          </p:cNvSpPr>
          <p:nvPr>
            <p:ph type="dt" idx="10"/>
          </p:nvPr>
        </p:nvSpPr>
        <p:spPr/>
        <p:txBody>
          <a:bodyPr/>
          <a:lstStyle>
            <a:lvl1pPr lvl="0" algn="l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3" name="Google Shape;78;p15">
            <a:extLst>
              <a:ext uri="{FF2B5EF4-FFF2-40B4-BE49-F238E27FC236}">
                <a16:creationId xmlns:a16="http://schemas.microsoft.com/office/drawing/2014/main" id="{420D58EF-0EAF-56BB-8E42-CE9DCE9BC03A}"/>
              </a:ext>
            </a:extLst>
          </p:cNvPr>
          <p:cNvSpPr txBox="1">
            <a:spLocks noGrp="1"/>
          </p:cNvSpPr>
          <p:nvPr>
            <p:ph type="ftr" idx="11"/>
          </p:nvPr>
        </p:nvSpPr>
        <p:spPr/>
        <p:txBody>
          <a:bodyPr/>
          <a:lstStyle>
            <a:lvl1pPr lvl="0" algn="ctr">
              <a:spcBef>
                <a:spcPts val="0"/>
              </a:spcBef>
              <a:spcAft>
                <a:spcPts val="0"/>
              </a:spcAft>
              <a:buClrTx/>
              <a:buSzPts val="1400"/>
              <a:buFontTx/>
              <a:buNone/>
              <a:defRPr kern="1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>
              <a:defRPr/>
            </a:pPr>
            <a:endParaRPr/>
          </a:p>
        </p:txBody>
      </p:sp>
      <p:sp>
        <p:nvSpPr>
          <p:cNvPr id="4" name="Google Shape;79;p15">
            <a:extLst>
              <a:ext uri="{FF2B5EF4-FFF2-40B4-BE49-F238E27FC236}">
                <a16:creationId xmlns:a16="http://schemas.microsoft.com/office/drawing/2014/main" id="{D29183DB-5A01-7B98-BB1F-F72734E3D48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/>
        <p:txBody>
          <a:bodyPr/>
          <a:lstStyle>
            <a:lvl1pPr marL="0" lvl="0" indent="0" algn="r">
              <a:spcBef>
                <a:spcPts val="0"/>
              </a:spcBef>
              <a:buClrTx/>
              <a:buFontTx/>
              <a:buNone/>
              <a:defRPr kern="1200"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>
              <a:defRPr/>
            </a:pPr>
            <a:fld id="{7A754393-AC14-454F-A816-D59A145642EC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504161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0A9A36-F1DA-3FA1-A396-666A72CEE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CDB6FADF-BAB5-446B-A17D-DD63085ABEB1}" type="datetimeFigureOut">
              <a:rPr lang="en-IN"/>
              <a:pPr>
                <a:defRPr/>
              </a:pPr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EDB651-D4AE-77A8-E5A9-D59C080E34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9730-C064-0035-C593-35984FE8A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buClrTx/>
              <a:buFontTx/>
              <a:buNone/>
              <a:defRPr kern="1200"/>
            </a:lvl1pPr>
          </a:lstStyle>
          <a:p>
            <a:pPr>
              <a:defRPr/>
            </a:pPr>
            <a:fld id="{68CD4C68-2984-4322-AC21-F4A5D84B5DE2}" type="slidenum">
              <a:rPr lang="en-IN"/>
              <a:pPr>
                <a:defRPr/>
              </a:pPr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10232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705FE634-3DDB-58D6-B65B-BE2DECE51D29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D0AB312F-655A-B928-C716-7B725F4CBFA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81B2B1-EA7F-E5F9-DD89-79D9DBE92C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E4D4F82-FCE3-45D0-9DA8-4EAC396B1C73}" type="datetimeFigureOut">
              <a:rPr lang="en-US"/>
              <a:pPr>
                <a:defRPr/>
              </a:pPr>
              <a:t>7/31/2026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D1376E-95ED-9CAB-4DDF-2479CA0914B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9489FE-5D9F-0550-7A9D-3F8704A2B1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2B1F2F54-862E-40C7-885D-8EBAC84A39D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125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1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>
            <a:extLst>
              <a:ext uri="{FF2B5EF4-FFF2-40B4-BE49-F238E27FC236}">
                <a16:creationId xmlns:a16="http://schemas.microsoft.com/office/drawing/2014/main" id="{EFE614AC-EC4A-B4E4-7ACC-6E26956314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80"/>
              <a:buFont typeface="Calibri"/>
              <a:buNone/>
              <a:defRPr sz="468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4">
            <a:extLst>
              <a:ext uri="{FF2B5EF4-FFF2-40B4-BE49-F238E27FC236}">
                <a16:creationId xmlns:a16="http://schemas.microsoft.com/office/drawing/2014/main" id="{7F8325A5-9F04-4697-D767-81F7DC3A26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t" anchorCtr="0">
            <a:normAutofit/>
          </a:bodyPr>
          <a:lstStyle>
            <a:lvl1pPr marL="457200" marR="0" lvl="0" indent="-441960" algn="l" rtl="0">
              <a:spcBef>
                <a:spcPts val="672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•"/>
              <a:defRPr sz="33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1910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–"/>
              <a:defRPr sz="3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8619" algn="l" rtl="0">
              <a:spcBef>
                <a:spcPts val="504"/>
              </a:spcBef>
              <a:spcAft>
                <a:spcPts val="0"/>
              </a:spcAft>
              <a:buClr>
                <a:schemeClr val="dk1"/>
              </a:buClr>
              <a:buSzPts val="2520"/>
              <a:buFont typeface="Arial"/>
              <a:buChar char="•"/>
              <a:defRPr sz="25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–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»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65760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65759" algn="l" rtl="0"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rial"/>
              <a:buChar char="•"/>
              <a:defRPr sz="216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>
            <a:extLst>
              <a:ext uri="{FF2B5EF4-FFF2-40B4-BE49-F238E27FC236}">
                <a16:creationId xmlns:a16="http://schemas.microsoft.com/office/drawing/2014/main" id="{F6EFBDA3-C7EA-130B-3318-E5BCC90F0829}"/>
              </a:ext>
            </a:extLst>
          </p:cNvPr>
          <p:cNvSpPr txBox="1">
            <a:spLocks noGrp="1"/>
          </p:cNvSpPr>
          <p:nvPr>
            <p:ph type="dt" idx="10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9" name="Google Shape;9;p4">
            <a:extLst>
              <a:ext uri="{FF2B5EF4-FFF2-40B4-BE49-F238E27FC236}">
                <a16:creationId xmlns:a16="http://schemas.microsoft.com/office/drawing/2014/main" id="{87A4DB0D-33F7-1C38-286C-F33035BD1509}"/>
              </a:ext>
            </a:extLst>
          </p:cNvPr>
          <p:cNvSpPr txBox="1">
            <a:spLocks noGrp="1"/>
          </p:cNvSpPr>
          <p:nvPr>
            <p:ph type="ftr" idx="11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5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endParaRPr/>
          </a:p>
        </p:txBody>
      </p:sp>
      <p:sp>
        <p:nvSpPr>
          <p:cNvPr id="10" name="Google Shape;10;p4">
            <a:extLst>
              <a:ext uri="{FF2B5EF4-FFF2-40B4-BE49-F238E27FC236}">
                <a16:creationId xmlns:a16="http://schemas.microsoft.com/office/drawing/2014/main" id="{093857D4-A9C7-C39D-5327-36B1215EEB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1025" tIns="40500" rIns="81025" bIns="405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000000"/>
              </a:buClr>
              <a:buFont typeface="Arial"/>
              <a:buNone/>
              <a:defRPr sz="1320" b="0" i="0" u="none" strike="noStrike" kern="0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32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>
              <a:defRPr/>
            </a:pPr>
            <a:fld id="{EB1CB48F-56D5-4B48-AE23-5667BEA3CB19}" type="slidenum">
              <a:rPr lang="en-US"/>
              <a:pPr>
                <a:defRPr/>
              </a:pPr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3643692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1pPr>
      <a:lvl2pPr lvl="1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2pPr>
      <a:lvl3pPr lvl="2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3pPr>
      <a:lvl4pPr lvl="3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4pPr>
      <a:lvl5pPr lvl="4" algn="l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Font typeface="Arial" panose="020B0604020202020204" pitchFamily="34" charset="0"/>
        <a:defRPr sz="1400">
          <a:solidFill>
            <a:srgbClr val="000000"/>
          </a:solidFill>
          <a:latin typeface="Arial"/>
          <a:ea typeface="Arial"/>
          <a:cs typeface="Arial"/>
          <a:sym typeface="Arial" panose="020B0604020202020204" pitchFamily="34" charset="0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957580" y="597535"/>
            <a:ext cx="10953115" cy="2253615"/>
          </a:xfrm>
          <a:effectLst>
            <a:outerShdw dist="63500" sx="1000" sy="1000" algn="ctr" rotWithShape="0">
              <a:schemeClr val="accent2">
                <a:lumMod val="50000"/>
              </a:schemeClr>
            </a:outerShdw>
          </a:effectLst>
        </p:spPr>
        <p:txBody>
          <a:bodyPr vert="horz" wrap="square" lIns="91440" tIns="45720" rIns="91440" bIns="45720" numCol="1" rtlCol="0" anchor="ctr" anchorCtr="0" compatLnSpc="1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  <a:t>(21CC505PC) 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j-ea"/>
                <a:cs typeface="+mj-cs"/>
              </a:rPr>
            </a:br>
            <a:r>
              <a:rPr kumimoji="0" lang="en-US" sz="2800" b="0" i="0" u="none" strike="noStrike" kern="1200" cap="none" spc="0" normalizeH="0" baseline="0" dirty="0">
                <a:solidFill>
                  <a:schemeClr val="accent2">
                    <a:lumMod val="75000"/>
                  </a:schemeClr>
                </a:solidFill>
                <a:latin typeface="Arial Black" panose="020B0A04020102020204" pitchFamily="34" charset="0"/>
                <a:ea typeface="+mn-ea"/>
                <a:cs typeface="+mn-cs"/>
                <a:sym typeface="+mn-ea"/>
              </a:rPr>
              <a:t>SOFTWARE ENGINEERING LAB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Arial Black" panose="020B0A04020102020204" pitchFamily="34" charset="0"/>
              <a:ea typeface="+mj-ea"/>
              <a:cs typeface="+mj-cs"/>
            </a:endParaRP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403225" y="2979420"/>
            <a:ext cx="11456987" cy="3192145"/>
          </a:xfrm>
        </p:spPr>
        <p:txBody>
          <a:bodyPr vert="horz" wrap="square" lIns="91440" tIns="45720" rIns="91440" bIns="45720" numCol="1" rtlCol="0" anchor="ctr" anchorCtr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dirty="0">
                <a:solidFill>
                  <a:srgbClr val="002060"/>
                </a:solidFill>
                <a:latin typeface="Arial Black" panose="020B0A04020102020204" pitchFamily="34" charset="0"/>
              </a:rPr>
              <a:t>LAB EXERCISE - 3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en-US" sz="2800" b="1" dirty="0">
                <a:solidFill>
                  <a:srgbClr val="C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Calibri" panose="020F0502020204030204" pitchFamily="34" charset="0"/>
              </a:rPr>
              <a:t>CASE TOOL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TOPIC </a:t>
            </a:r>
            <a:r>
              <a:rPr kumimoji="0" lang="en-US" sz="2800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-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2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schemeClr val="accent2">
                    <a:lumMod val="75000"/>
                  </a:schemeClr>
                </a:solidFill>
                <a:effectLst/>
                <a:uLnTx/>
                <a:uFillTx/>
                <a:latin typeface="Arial Black" panose="020B0A04020102020204" pitchFamily="34" charset="0"/>
                <a:ea typeface="+mn-ea"/>
                <a:cs typeface="+mn-cs"/>
              </a:rPr>
              <a:t>UML DIAGRAMS - USECASE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accent2">
                  <a:lumMod val="75000"/>
                </a:schemeClr>
              </a:solidFill>
              <a:effectLst/>
              <a:uLnTx/>
              <a:uFillTx/>
              <a:latin typeface="Arial Black" panose="020B0A04020102020204" pitchFamily="34" charset="0"/>
              <a:ea typeface="+mn-ea"/>
              <a:cs typeface="+mn-cs"/>
            </a:endParaRPr>
          </a:p>
        </p:txBody>
      </p:sp>
      <p:grpSp>
        <p:nvGrpSpPr>
          <p:cNvPr id="2052" name="Group 14"/>
          <p:cNvGrpSpPr/>
          <p:nvPr/>
        </p:nvGrpSpPr>
        <p:grpSpPr>
          <a:xfrm>
            <a:off x="403225" y="61913"/>
            <a:ext cx="11456988" cy="1116012"/>
            <a:chOff x="376972" y="40036"/>
            <a:chExt cx="11456149" cy="1116157"/>
          </a:xfrm>
        </p:grpSpPr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570123" y="40036"/>
              <a:ext cx="1069848" cy="86994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76972" y="83215"/>
              <a:ext cx="1069848" cy="744031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12289" y="83214"/>
              <a:ext cx="1069848" cy="771566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9" name="Rectangle 8"/>
            <p:cNvSpPr/>
            <p:nvPr/>
          </p:nvSpPr>
          <p:spPr>
            <a:xfrm>
              <a:off x="448405" y="905335"/>
              <a:ext cx="1904860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UPPAL CAMPUS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89920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NARAYANGUDA</a:t>
              </a:r>
            </a:p>
          </p:txBody>
        </p:sp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5"/>
            <a:srcRect l="7635" t="13601" r="2078" b="14170"/>
            <a:stretch>
              <a:fillRect/>
            </a:stretch>
          </p:blipFill>
          <p:spPr>
            <a:xfrm>
              <a:off x="10346348" y="46291"/>
              <a:ext cx="1069848" cy="855880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sp>
          <p:nvSpPr>
            <p:cNvPr id="12" name="Rectangle 11"/>
            <p:cNvSpPr/>
            <p:nvPr/>
          </p:nvSpPr>
          <p:spPr>
            <a:xfrm>
              <a:off x="9929847" y="902160"/>
              <a:ext cx="1903274" cy="25085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+mn-lt"/>
                  <a:ea typeface="+mn-ea"/>
                  <a:cs typeface="+mn-cs"/>
                </a:rPr>
                <a:t>IBRAHIMPATNAM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54C2011-CB98-AFD9-F4E2-001DA0B74FF5}"/>
              </a:ext>
            </a:extLst>
          </p:cNvPr>
          <p:cNvSpPr txBox="1">
            <a:spLocks/>
          </p:cNvSpPr>
          <p:nvPr/>
        </p:nvSpPr>
        <p:spPr>
          <a:xfrm>
            <a:off x="1717675" y="2986088"/>
            <a:ext cx="8756650" cy="1470025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SOFTWARE ENGINEERING LAB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600" b="1" i="0" u="none" strike="noStrike" kern="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(21CC505PC)</a:t>
            </a:r>
            <a:endParaRPr kumimoji="0" lang="en-IN" sz="3600" b="0" i="0" u="none" strike="noStrike" kern="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4000" b="1" dirty="0" err="1">
                <a:solidFill>
                  <a:srgbClr val="FF0000"/>
                </a:solidFill>
              </a:rPr>
              <a:t>Usecase</a:t>
            </a:r>
            <a:r>
              <a:rPr lang="en-US" sz="4000" b="1" dirty="0">
                <a:solidFill>
                  <a:srgbClr val="FF0000"/>
                </a:solidFill>
              </a:rPr>
              <a:t>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1454" y="1194317"/>
            <a:ext cx="11220060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 Use Case Diagram is a visual representation of how a system interacts with its external users (actors). 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It illustrates the system's functional requirements and how the system behaves from a user perspective.</a:t>
            </a:r>
            <a:endParaRPr lang="en-IN" sz="22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Purpose of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430764" y="1269584"/>
            <a:ext cx="11220060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Identifies actors who interact with the system.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Describes interactions (use cases) between the system and its actors.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Shows system boundaries (what is inside or outside of the system).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Useful for understanding the functionality of a system at a high level.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4679799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115854" y="776783"/>
            <a:ext cx="11548965" cy="41114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Actor: </a:t>
            </a:r>
            <a:r>
              <a:rPr lang="en-US" sz="2200" dirty="0"/>
              <a:t>Represents anyone or anything that interacts with the system (usually a human user or external system).</a:t>
            </a:r>
          </a:p>
          <a:p>
            <a:pPr algn="just">
              <a:lnSpc>
                <a:spcPct val="200000"/>
              </a:lnSpc>
            </a:pPr>
            <a:r>
              <a:rPr lang="en-US" sz="2200" b="1" u="sng" dirty="0"/>
              <a:t>Symbol: </a:t>
            </a:r>
            <a:r>
              <a:rPr lang="en-US" sz="2200" dirty="0"/>
              <a:t>Stick figure.</a:t>
            </a:r>
          </a:p>
          <a:p>
            <a:pPr algn="just">
              <a:lnSpc>
                <a:spcPct val="200000"/>
              </a:lnSpc>
            </a:pPr>
            <a:endParaRPr lang="en-US" sz="2200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Actors can generalize other actors</a:t>
            </a:r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sz="2200" dirty="0"/>
          </a:p>
        </p:txBody>
      </p:sp>
      <p:pic>
        <p:nvPicPr>
          <p:cNvPr id="1026" name="Picture 2" descr="Use case diagram png images | PNGEgg">
            <a:extLst>
              <a:ext uri="{FF2B5EF4-FFF2-40B4-BE49-F238E27FC236}">
                <a16:creationId xmlns:a16="http://schemas.microsoft.com/office/drawing/2014/main" id="{CA678B24-99B0-C355-8E2A-30B371A92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97560" y="1530220"/>
            <a:ext cx="2584579" cy="2049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1243FF1-F1BF-3D4B-E925-2F0CD1A7CE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9268" y="4050394"/>
            <a:ext cx="4885743" cy="280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97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54563" y="776783"/>
            <a:ext cx="11310256" cy="3372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Use Case: </a:t>
            </a:r>
            <a:r>
              <a:rPr lang="en-US" sz="2200" dirty="0"/>
              <a:t>Describes a specific action or function that the actor performs with the system (like withdrawing money or checking balance).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Symbol: </a:t>
            </a:r>
            <a:r>
              <a:rPr lang="en-US" sz="2200" dirty="0"/>
              <a:t>An oval with the name of the use case inside.</a:t>
            </a:r>
          </a:p>
          <a:p>
            <a:pPr algn="just">
              <a:lnSpc>
                <a:spcPct val="200000"/>
              </a:lnSpc>
            </a:pPr>
            <a:endParaRPr lang="en-US" sz="2200" dirty="0"/>
          </a:p>
          <a:p>
            <a:pPr algn="just">
              <a:lnSpc>
                <a:spcPct val="200000"/>
              </a:lnSpc>
            </a:pPr>
            <a:endParaRPr lang="en-US" sz="22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AC034ED-8536-F982-8B9F-A595DC7B99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353" y="3247219"/>
            <a:ext cx="3781912" cy="2476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690AB5C-EE61-2D06-A905-0C18BCD7E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1348" y="3037669"/>
            <a:ext cx="5695950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348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40568" y="888750"/>
            <a:ext cx="5142818" cy="42653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System Boundary</a:t>
            </a:r>
            <a:r>
              <a:rPr lang="en-US" sz="2400" dirty="0"/>
              <a:t>:</a:t>
            </a:r>
            <a:br>
              <a:rPr lang="en-US" sz="2400" dirty="0"/>
            </a:br>
            <a:r>
              <a:rPr lang="en-US" sz="2200" dirty="0"/>
              <a:t>Defines the boundary of the system and separates what is inside the system (functions) from the outside (actors).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u="sng" dirty="0"/>
              <a:t>Symbol: </a:t>
            </a:r>
            <a:r>
              <a:rPr lang="en-US" sz="2200" dirty="0"/>
              <a:t>A rectangle enclosing the use cases.</a:t>
            </a:r>
          </a:p>
          <a:p>
            <a:pPr algn="just">
              <a:lnSpc>
                <a:spcPct val="200000"/>
              </a:lnSpc>
            </a:pP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5D98915-E4C7-C71B-29BE-A56894BEC2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3386" y="2039009"/>
            <a:ext cx="6543675" cy="4829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4075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40567" y="888750"/>
            <a:ext cx="11206065" cy="1553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Associations (Lines): </a:t>
            </a:r>
            <a:r>
              <a:rPr lang="en-US" sz="2200" dirty="0"/>
              <a:t>Represents a relationship between an actor and a use case. It shows that the actor interacts with the use case.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Symbol: </a:t>
            </a:r>
            <a:r>
              <a:rPr lang="en-US" sz="2200" dirty="0"/>
              <a:t>A simple line.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B49DE-AA2C-4D5C-2DE3-205AB5B79E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4840" y="2159920"/>
            <a:ext cx="5262466" cy="218387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1D8C7B6-96EC-861C-88E3-780F18223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1873" y="4416196"/>
            <a:ext cx="7895351" cy="239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86568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40567" y="888750"/>
            <a:ext cx="11206065" cy="27476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Include: </a:t>
            </a:r>
            <a:r>
              <a:rPr lang="en-US" sz="2200" dirty="0"/>
              <a:t>Denotes that one use case must always use another use case to complete its task.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Symbol: </a:t>
            </a:r>
            <a:r>
              <a:rPr lang="en-US" sz="2200" dirty="0"/>
              <a:t>A dashed arrow labeled &lt;&lt;include&gt;&gt;.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Example: </a:t>
            </a:r>
            <a:r>
              <a:rPr lang="en-US" sz="2400" dirty="0"/>
              <a:t>Card identification is always required before withdrawing cash.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16345F-7BE2-D697-3482-99CCF656D2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2673" y="3793866"/>
            <a:ext cx="7763069" cy="246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17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2019" y="78694"/>
            <a:ext cx="10972800" cy="1115623"/>
          </a:xfrm>
        </p:spPr>
        <p:txBody>
          <a:bodyPr>
            <a:normAutofit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Key Symbols in a Use Case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40567" y="888750"/>
            <a:ext cx="11206065" cy="20185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Extend: </a:t>
            </a:r>
            <a:r>
              <a:rPr lang="en-US" sz="2200" dirty="0"/>
              <a:t>Indicates that one use case can add extra features to another use case, but only if needed or under certain conditions.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/>
              <a:t>Symbol: </a:t>
            </a:r>
            <a:r>
              <a:rPr lang="en-US" sz="2200" dirty="0"/>
              <a:t>A dashed arrow labeled &lt;&lt;extend&gt;&gt;.</a:t>
            </a:r>
          </a:p>
        </p:txBody>
      </p:sp>
      <p:pic>
        <p:nvPicPr>
          <p:cNvPr id="2050" name="Picture 2" descr="Uploaded image">
            <a:extLst>
              <a:ext uri="{FF2B5EF4-FFF2-40B4-BE49-F238E27FC236}">
                <a16:creationId xmlns:a16="http://schemas.microsoft.com/office/drawing/2014/main" id="{8D81D6EE-2CBB-BE05-FD1F-C24131140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3254" y="3028401"/>
            <a:ext cx="7540690" cy="36949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388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26956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Identify Actors: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Customer: </a:t>
            </a:r>
            <a:r>
              <a:rPr lang="en-US" sz="2200" dirty="0"/>
              <a:t>A person who uses the ATM machine to perform tasks like withdrawing money, checking balance, etc.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7030A0"/>
                </a:solidFill>
              </a:rPr>
              <a:t>Bank: </a:t>
            </a:r>
            <a:r>
              <a:rPr lang="en-US" sz="2200" dirty="0"/>
              <a:t>Represents the banking system that processes the customer’s requests.</a:t>
            </a:r>
          </a:p>
        </p:txBody>
      </p:sp>
    </p:spTree>
    <p:extLst>
      <p:ext uri="{BB962C8B-B14F-4D97-AF65-F5344CB8AC3E}">
        <p14:creationId xmlns:p14="http://schemas.microsoft.com/office/powerpoint/2010/main" val="1846449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Identify Use Cases: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Withdraw Cash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Check Balance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Deposit Cash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Transfer Funds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Change PIN</a:t>
            </a:r>
          </a:p>
        </p:txBody>
      </p:sp>
    </p:spTree>
    <p:extLst>
      <p:ext uri="{BB962C8B-B14F-4D97-AF65-F5344CB8AC3E}">
        <p14:creationId xmlns:p14="http://schemas.microsoft.com/office/powerpoint/2010/main" val="8131069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049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Draw the Diagram: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Start by drawing the system boundary (a rectangle) labeled "ATM System.“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Inside the rectangle, draw ovals representing each use case (Withdraw Cash, Check Balance, etc.).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Place the actors (Customer, Bank) outside the system boundary.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Connect the actors to the relevant use cases using straight lines (associations).</a:t>
            </a:r>
          </a:p>
        </p:txBody>
      </p:sp>
    </p:spTree>
    <p:extLst>
      <p:ext uri="{BB962C8B-B14F-4D97-AF65-F5344CB8AC3E}">
        <p14:creationId xmlns:p14="http://schemas.microsoft.com/office/powerpoint/2010/main" val="3491119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4" y="414597"/>
            <a:ext cx="10972800" cy="11156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Steps to Draw a 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4AD6D3-13EA-94E7-D769-C890BC57B53E}"/>
              </a:ext>
            </a:extLst>
          </p:cNvPr>
          <p:cNvSpPr txBox="1"/>
          <p:nvPr/>
        </p:nvSpPr>
        <p:spPr>
          <a:xfrm>
            <a:off x="331237" y="1429926"/>
            <a:ext cx="11206065" cy="4727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chemeClr val="accent6">
                    <a:lumMod val="50000"/>
                  </a:schemeClr>
                </a:solidFill>
              </a:rPr>
              <a:t>Use of Include and Extend: 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Include: </a:t>
            </a:r>
            <a:r>
              <a:rPr lang="en-US" sz="2200" dirty="0"/>
              <a:t>The "Withdraw Cash" use case might always include "Authenticate User" (since the user must always authenticate before withdrawing money). This means an &lt;&lt;include&gt;&gt; relationship between these use cases.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200" b="1" u="sng" dirty="0">
                <a:solidFill>
                  <a:srgbClr val="7030A0"/>
                </a:solidFill>
              </a:rPr>
              <a:t>Extend: </a:t>
            </a:r>
            <a:r>
              <a:rPr lang="en-US" sz="2200" dirty="0"/>
              <a:t>The "Check Balance" use case might extend "Withdraw Cash" because, optionally, the user might want to check the balance after withdrawing. This creates an &lt;&lt;extend&gt;&gt; relationship between these use cases.</a:t>
            </a:r>
          </a:p>
        </p:txBody>
      </p:sp>
    </p:spTree>
    <p:extLst>
      <p:ext uri="{BB962C8B-B14F-4D97-AF65-F5344CB8AC3E}">
        <p14:creationId xmlns:p14="http://schemas.microsoft.com/office/powerpoint/2010/main" val="11780375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8023" y="39348"/>
            <a:ext cx="10972800" cy="557812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solidFill>
                  <a:srgbClr val="FF0000"/>
                </a:solidFill>
              </a:rPr>
              <a:t>Use Case Diagram for an ATM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176" y="1530220"/>
            <a:ext cx="11206065" cy="4730621"/>
          </a:xfrm>
        </p:spPr>
        <p:txBody>
          <a:bodyPr>
            <a:normAutofit/>
          </a:bodyPr>
          <a:lstStyle/>
          <a:p>
            <a:pPr marL="15240" indent="0">
              <a:buNone/>
            </a:pPr>
            <a:endParaRPr lang="en-US" u="sng" dirty="0"/>
          </a:p>
          <a:p>
            <a:pPr>
              <a:buNone/>
            </a:pPr>
            <a:r>
              <a:rPr lang="en-US" sz="1600" dirty="0"/>
              <a:t>                                                                                                            </a:t>
            </a:r>
          </a:p>
          <a:p>
            <a:pPr>
              <a:buNone/>
            </a:pPr>
            <a:r>
              <a:rPr lang="en-US" sz="1600" dirty="0"/>
              <a:t>     </a:t>
            </a:r>
            <a:endParaRPr lang="en-US" u="sn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50F807-4300-9286-3D63-0F3791DD5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8963" y="895740"/>
            <a:ext cx="9787813" cy="5629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11814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2687</TotalTime>
  <Words>661</Words>
  <Application>Microsoft Office PowerPoint</Application>
  <PresentationFormat>Widescreen</PresentationFormat>
  <Paragraphs>117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Black</vt:lpstr>
      <vt:lpstr>Calibri</vt:lpstr>
      <vt:lpstr>Calibri Light</vt:lpstr>
      <vt:lpstr>Times New Roman</vt:lpstr>
      <vt:lpstr>1_Office Theme</vt:lpstr>
      <vt:lpstr>2_Office Theme</vt:lpstr>
      <vt:lpstr>(21CC505PC)  SOFTWARE ENGINEERING LAB</vt:lpstr>
      <vt:lpstr>PowerPoint Presentation</vt:lpstr>
      <vt:lpstr>Usecase Diagram</vt:lpstr>
      <vt:lpstr>Purpose of a Use Case Diagram</vt:lpstr>
      <vt:lpstr>Key Symbols in a Use Case Diagram</vt:lpstr>
      <vt:lpstr>Key Symbols in a Use Case Diagram</vt:lpstr>
      <vt:lpstr>Key Symbols in a Use Case Diagram</vt:lpstr>
      <vt:lpstr>Key Symbols in a Use Case Diagram</vt:lpstr>
      <vt:lpstr>Key Symbols in a Use Case Diagram</vt:lpstr>
      <vt:lpstr>Key Symbols in a Use Case Diagram</vt:lpstr>
      <vt:lpstr>Steps to Draw a Use Case Diagram for an ATM System</vt:lpstr>
      <vt:lpstr>Steps to Draw a Use Case Diagram for an ATM System</vt:lpstr>
      <vt:lpstr>Steps to Draw a Use Case Diagram for an ATM System</vt:lpstr>
      <vt:lpstr>Steps to Draw a Use Case Diagram for an ATM System</vt:lpstr>
      <vt:lpstr>Use Case Diagram for an ATM System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(21DM601PC)    COMPUTER NETWORKS</dc:title>
  <dc:creator>Arshiya Begum</dc:creator>
  <cp:lastModifiedBy>Savitha Ramesh</cp:lastModifiedBy>
  <cp:revision>47</cp:revision>
  <dcterms:created xsi:type="dcterms:W3CDTF">2024-05-06T05:52:36Z</dcterms:created>
  <dcterms:modified xsi:type="dcterms:W3CDTF">2026-07-31T07:39:18Z</dcterms:modified>
</cp:coreProperties>
</file>