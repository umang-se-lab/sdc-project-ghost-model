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5"/>
  </p:notesMasterIdLst>
  <p:sldIdLst>
    <p:sldId id="539" r:id="rId3"/>
    <p:sldId id="260" r:id="rId4"/>
    <p:sldId id="289" r:id="rId5"/>
    <p:sldId id="587" r:id="rId6"/>
    <p:sldId id="588" r:id="rId7"/>
    <p:sldId id="568" r:id="rId8"/>
    <p:sldId id="589" r:id="rId9"/>
    <p:sldId id="590" r:id="rId10"/>
    <p:sldId id="591" r:id="rId11"/>
    <p:sldId id="586" r:id="rId12"/>
    <p:sldId id="592" r:id="rId13"/>
    <p:sldId id="5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6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8053-C215-4F1B-B034-F2CEC3A12651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86552-9209-4EF2-8CFF-E55CDE485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4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81;p1:notes">
            <a:extLst>
              <a:ext uri="{FF2B5EF4-FFF2-40B4-BE49-F238E27FC236}">
                <a16:creationId xmlns:a16="http://schemas.microsoft.com/office/drawing/2014/main" id="{6239290D-3E94-FAD0-7910-CDA7DFA9C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7" name="Google Shape;82;p1:notes">
            <a:extLst>
              <a:ext uri="{FF2B5EF4-FFF2-40B4-BE49-F238E27FC236}">
                <a16:creationId xmlns:a16="http://schemas.microsoft.com/office/drawing/2014/main" id="{1D7A565E-33A6-6574-9D57-CFC2299100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09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356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880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997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33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050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86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438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35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25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3907A-1C36-3163-8823-39841831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8931A-C565-4B1C-A936-B5CA39C7CD04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672E-874D-F919-479C-F31C3BA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8ECE-D04C-C905-0358-5B5D39EB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BF32D-9D31-4CD0-8B17-4D91DA246A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2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1D7-1939-0553-5E67-A22FC28F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7D29A-0C92-4523-9896-D9652EC576B2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C8B85-1B14-EE11-13F3-127FED42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3CF1-EBBD-A551-2A94-5F2759A6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D0544-02C6-4C17-909A-13488D02D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89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CEC3E-474D-98B2-3DD8-0EC2FF85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20673-274D-4247-8161-F61D3918377A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E6C9-CE10-54A4-6BF2-3C303594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E9F0-4F49-EB73-7BA3-253B9F8D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55397-1D80-4F70-B204-8003AEC84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01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3347DC-8727-FA52-4FB3-EE5F5608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45F1D-49E8-4AA5-A8D5-1F2A72032E7E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464574-2B9D-B193-E3D1-685B45C9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14629F-CF96-8490-DD5A-8503BD83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1FACD-FEE9-420D-9319-52C846BCA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3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ACE3BD-2A0C-3143-4897-C3B07CFE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3E46-4A0A-4700-BB68-A713045AC50C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446A335-4366-4386-F3DB-BFBE5534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8C4C4E-AAC8-42C6-1613-DD4D6B7E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9C8EB-1648-4CB3-B1E5-AF02A07CF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82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63E63F7-92CB-461C-9F5A-288ECCB5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26748-7D61-4F99-BCB5-561B2FE29A7C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E55E5BB-53D1-4D75-2095-0BE40C81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F9A2BE-1BD1-1D98-0C9B-04ECC323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82E88-B8D5-4CC6-A63E-A393B6012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44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1534290-0A37-B6B5-FECC-D8098B2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F073-1C86-4EAE-8379-A2D7EC9CB060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5B8E33-EEE4-B14A-5DD7-9AB6B8B7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030C33-B194-8041-4198-76B96221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356E0-C946-47CA-89DE-E46AEC7150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72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AE7F19-7B8D-7C13-C65A-C0B9FB1F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07218-745A-4FC1-A09B-6783154A3601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42A6CA-9380-BC38-7749-26166894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137C3C-1528-39A5-2D44-3E37D4E2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6067-6868-471D-89D0-31576D514F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1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061425-9B74-76D6-1FE8-DA3A496D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1DA97-5C18-459E-9042-212CCF63C04F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CD01D3-2325-A61A-CE46-FC100BAE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CFFE4B-DD12-E0F2-761A-99A133B9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BADD7-0AAB-4DF4-A47E-DEFC59C86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9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D64DB-4A11-4A09-0DCC-22DCD5F4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980CB-B09E-44F2-B85A-CC28BFF3936C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2C25F-F2EA-6F3C-AA22-17672639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7625-2F75-2E9C-173F-813E0BCA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B05AD-D529-4C46-BA41-798F8AAE7F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6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07AB-A758-7ACF-1EF5-39524460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4204F-497E-4357-BC10-5017874068A6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3595D-F878-D090-2021-A9C3B17B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7D67-0477-0305-7A3A-F5100530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B7426-2160-4114-9A12-2143FC702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7399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14;p5">
            <a:extLst>
              <a:ext uri="{FF2B5EF4-FFF2-40B4-BE49-F238E27FC236}">
                <a16:creationId xmlns:a16="http://schemas.microsoft.com/office/drawing/2014/main" id="{DA90ECB4-5A99-18ED-D6A7-280396D61411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15;p5">
            <a:extLst>
              <a:ext uri="{FF2B5EF4-FFF2-40B4-BE49-F238E27FC236}">
                <a16:creationId xmlns:a16="http://schemas.microsoft.com/office/drawing/2014/main" id="{4E98BFAF-269A-752B-8FFA-422CB155D1F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16;p5">
            <a:extLst>
              <a:ext uri="{FF2B5EF4-FFF2-40B4-BE49-F238E27FC236}">
                <a16:creationId xmlns:a16="http://schemas.microsoft.com/office/drawing/2014/main" id="{209C6DAC-36B0-A431-08C5-015D8A87F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32BFBD3-3A94-49FD-90AB-D2D0890F1E46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6997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26;p7">
            <a:extLst>
              <a:ext uri="{FF2B5EF4-FFF2-40B4-BE49-F238E27FC236}">
                <a16:creationId xmlns:a16="http://schemas.microsoft.com/office/drawing/2014/main" id="{9EEDF353-4C94-1A51-9B4E-266144ABD1CB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27;p7">
            <a:extLst>
              <a:ext uri="{FF2B5EF4-FFF2-40B4-BE49-F238E27FC236}">
                <a16:creationId xmlns:a16="http://schemas.microsoft.com/office/drawing/2014/main" id="{F972E414-C475-FD52-1DCC-A4C153BCD37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28;p7">
            <a:extLst>
              <a:ext uri="{FF2B5EF4-FFF2-40B4-BE49-F238E27FC236}">
                <a16:creationId xmlns:a16="http://schemas.microsoft.com/office/drawing/2014/main" id="{3B75AAB7-8282-D53A-6274-FFF4F87D31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AAD0773F-BC41-4673-8580-9B75BA127ADF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259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F873A22-B656-B70D-AE94-2F4A1E02829F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34;p8">
            <a:extLst>
              <a:ext uri="{FF2B5EF4-FFF2-40B4-BE49-F238E27FC236}">
                <a16:creationId xmlns:a16="http://schemas.microsoft.com/office/drawing/2014/main" id="{7F472728-65B9-BEA8-E2AB-50A7502E2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35;p8">
            <a:extLst>
              <a:ext uri="{FF2B5EF4-FFF2-40B4-BE49-F238E27FC236}">
                <a16:creationId xmlns:a16="http://schemas.microsoft.com/office/drawing/2014/main" id="{C4CC17D8-46D2-D015-B142-41A7C8CA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31F808A-BE66-40C6-A28B-D1952CC78A5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370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1">
            <a:extLst>
              <a:ext uri="{FF2B5EF4-FFF2-40B4-BE49-F238E27FC236}">
                <a16:creationId xmlns:a16="http://schemas.microsoft.com/office/drawing/2014/main" id="{B8D0276B-A5BA-701B-29D0-8A840E481603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2;p11">
            <a:extLst>
              <a:ext uri="{FF2B5EF4-FFF2-40B4-BE49-F238E27FC236}">
                <a16:creationId xmlns:a16="http://schemas.microsoft.com/office/drawing/2014/main" id="{2CA0BFC4-CB42-33F6-DD82-90444FE9E527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53;p11">
            <a:extLst>
              <a:ext uri="{FF2B5EF4-FFF2-40B4-BE49-F238E27FC236}">
                <a16:creationId xmlns:a16="http://schemas.microsoft.com/office/drawing/2014/main" id="{EFB5FE0E-85F5-D188-5D1D-0CF289116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95F859B-F2B4-4294-AF96-B530928DD2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8265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58;p12">
            <a:extLst>
              <a:ext uri="{FF2B5EF4-FFF2-40B4-BE49-F238E27FC236}">
                <a16:creationId xmlns:a16="http://schemas.microsoft.com/office/drawing/2014/main" id="{78EB4BF1-BC07-9A40-4FD1-AD2C8E2A778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9;p12">
            <a:extLst>
              <a:ext uri="{FF2B5EF4-FFF2-40B4-BE49-F238E27FC236}">
                <a16:creationId xmlns:a16="http://schemas.microsoft.com/office/drawing/2014/main" id="{1689CE93-5AD8-9DEA-6A9B-F428A0FB2A1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0;p12">
            <a:extLst>
              <a:ext uri="{FF2B5EF4-FFF2-40B4-BE49-F238E27FC236}">
                <a16:creationId xmlns:a16="http://schemas.microsoft.com/office/drawing/2014/main" id="{86AFF95E-0204-1B12-9DC7-506EB65C4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B946C5B2-E8B8-4013-A7F1-46B158A9F482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6143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65;p13">
            <a:extLst>
              <a:ext uri="{FF2B5EF4-FFF2-40B4-BE49-F238E27FC236}">
                <a16:creationId xmlns:a16="http://schemas.microsoft.com/office/drawing/2014/main" id="{6830560B-EC46-0D2D-393A-2FE48266FD45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66;p13">
            <a:extLst>
              <a:ext uri="{FF2B5EF4-FFF2-40B4-BE49-F238E27FC236}">
                <a16:creationId xmlns:a16="http://schemas.microsoft.com/office/drawing/2014/main" id="{C8DB439E-052B-358D-1FA5-E685A639207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7;p13">
            <a:extLst>
              <a:ext uri="{FF2B5EF4-FFF2-40B4-BE49-F238E27FC236}">
                <a16:creationId xmlns:a16="http://schemas.microsoft.com/office/drawing/2014/main" id="{10608590-4128-59A2-58E9-A09775FEF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3E1E7C7B-C7D3-419A-A00C-6260B9E8BA37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313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B9A4786C-67EA-6C04-CA3D-F992D59290ED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2AA6D83F-AFD4-54A0-CD63-BAB24C5CAAC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3;p14">
            <a:extLst>
              <a:ext uri="{FF2B5EF4-FFF2-40B4-BE49-F238E27FC236}">
                <a16:creationId xmlns:a16="http://schemas.microsoft.com/office/drawing/2014/main" id="{0762581D-3ED7-3FA0-E761-039876C13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456F98DD-0713-4981-BE72-6777F706CC00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630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7;p15">
            <a:extLst>
              <a:ext uri="{FF2B5EF4-FFF2-40B4-BE49-F238E27FC236}">
                <a16:creationId xmlns:a16="http://schemas.microsoft.com/office/drawing/2014/main" id="{17DA1089-C8A2-E22B-F7F8-36C6B7096E3C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420D58EF-0EAF-56BB-8E42-CE9DCE9BC03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D29183DB-5A01-7B98-BB1F-F72734E3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A754393-AC14-454F-A816-D59A145642E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504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9A36-F1DA-3FA1-A396-666A72C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CDB6FADF-BAB5-446B-A17D-DD63085ABEB1}" type="datetimeFigureOut">
              <a:rPr lang="en-IN"/>
              <a:pPr>
                <a:defRPr/>
              </a:pPr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B651-D4AE-77A8-E5A9-D59C080E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9730-C064-0035-C593-35984FE8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68CD4C68-2984-4322-AC21-F4A5D84B5DE2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0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5FE634-3DDB-58D6-B65B-BE2DECE51D2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0AB312F-655A-B928-C716-7B725F4CBF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B2B1-EA7F-E5F9-DD89-79D9DBE92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4D4F82-FCE3-45D0-9DA8-4EAC396B1C73}" type="datetimeFigureOut">
              <a:rPr lang="en-US"/>
              <a:pPr>
                <a:defRPr/>
              </a:pPr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1376E-95ED-9CAB-4DDF-2479CA091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489FE-5D9F-0550-7A9D-3F8704A2B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1F2F54-862E-40C7-885D-8EBAC84A3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25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:a16="http://schemas.microsoft.com/office/drawing/2014/main" id="{EFE614AC-EC4A-B4E4-7ACC-6E2695631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:a16="http://schemas.microsoft.com/office/drawing/2014/main" id="{7F8325A5-9F04-4697-D767-81F7DC3A2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:a16="http://schemas.microsoft.com/office/drawing/2014/main" id="{F6EFBDA3-C7EA-130B-3318-E5BCC90F08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:a16="http://schemas.microsoft.com/office/drawing/2014/main" id="{87A4DB0D-33F7-1C38-286C-F33035BD15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:a16="http://schemas.microsoft.com/office/drawing/2014/main" id="{093857D4-A9C7-C39D-5327-36B1215EEB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fld id="{EB1CB48F-56D5-4B48-AE23-5667BEA3CB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4369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57580" y="597535"/>
            <a:ext cx="10953115" cy="2253615"/>
          </a:xfrm>
          <a:effectLst>
            <a:outerShdw dist="63500" sx="1000" sy="1000" algn="ctr" rotWithShape="0">
              <a:schemeClr val="accent2">
                <a:lumMod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(21CC505PC)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  <a:sym typeface="+mn-ea"/>
              </a:rPr>
              <a:t>SOFTWARE ENGINEERING LAB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03225" y="2979420"/>
            <a:ext cx="11456987" cy="319214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LAB EXERCISE - 3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 panose="020F0502020204030204" pitchFamily="34" charset="0"/>
              </a:rPr>
              <a:t>CASE TOOL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TOPIC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UML DIAGRAMS - COMPONENT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grpSp>
        <p:nvGrpSpPr>
          <p:cNvPr id="2052" name="Group 14"/>
          <p:cNvGrpSpPr/>
          <p:nvPr/>
        </p:nvGrpSpPr>
        <p:grpSpPr>
          <a:xfrm>
            <a:off x="403225" y="61913"/>
            <a:ext cx="11456988" cy="1116012"/>
            <a:chOff x="376972" y="40036"/>
            <a:chExt cx="11456149" cy="111615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23" y="40036"/>
              <a:ext cx="1069848" cy="86994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972" y="83215"/>
              <a:ext cx="1069848" cy="7440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2289" y="83214"/>
              <a:ext cx="1069848" cy="77156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/>
            <p:cNvSpPr/>
            <p:nvPr/>
          </p:nvSpPr>
          <p:spPr>
            <a:xfrm>
              <a:off x="448405" y="905335"/>
              <a:ext cx="1904860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UPPAL CAMPUS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89920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NARAYANGUDA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/>
            <a:srcRect l="7635" t="13601" r="2078" b="14170"/>
            <a:stretch>
              <a:fillRect/>
            </a:stretch>
          </p:blipFill>
          <p:spPr>
            <a:xfrm>
              <a:off x="10346348" y="46291"/>
              <a:ext cx="1069848" cy="8558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2" name="Rectangle 11"/>
            <p:cNvSpPr/>
            <p:nvPr/>
          </p:nvSpPr>
          <p:spPr>
            <a:xfrm>
              <a:off x="9929847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IBRAHIMPATNAM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4C2011-CB98-AFD9-F4E2-001DA0B74FF5}"/>
              </a:ext>
            </a:extLst>
          </p:cNvPr>
          <p:cNvSpPr txBox="1">
            <a:spLocks/>
          </p:cNvSpPr>
          <p:nvPr/>
        </p:nvSpPr>
        <p:spPr>
          <a:xfrm>
            <a:off x="1717675" y="2986088"/>
            <a:ext cx="8756650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SOFTWARE ENGINEERING LAB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(21CC505PC)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1454" y="1194317"/>
            <a:ext cx="11220060" cy="269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Component Diagram shows how a system is organized into separate, smaller parts called components.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highlights the structure of the system and the connections between these parts.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It’s useful for understanding how different parts of the system work together.</a:t>
            </a:r>
            <a:endParaRPr lang="en-I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What are Components?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1454" y="1194317"/>
            <a:ext cx="11220060" cy="337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Components are the individual building blocks of a system.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Each component is like a self-contained unit that performs specific tasks or functions.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Components interact with each other through interfaces (defined connection points).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i="1" u="sng" dirty="0"/>
              <a:t>Example: </a:t>
            </a:r>
            <a:r>
              <a:rPr lang="en-US" sz="2200" i="1" dirty="0"/>
              <a:t>In a car, the engine, brakes, and transmission are all components that work together to make the car function.</a:t>
            </a:r>
            <a:endParaRPr lang="en-IN" sz="2200" i="1" dirty="0"/>
          </a:p>
        </p:txBody>
      </p:sp>
    </p:spTree>
    <p:extLst>
      <p:ext uri="{BB962C8B-B14F-4D97-AF65-F5344CB8AC3E}">
        <p14:creationId xmlns:p14="http://schemas.microsoft.com/office/powerpoint/2010/main" val="279097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Characteristics of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1454" y="1194317"/>
            <a:ext cx="11220060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Reusable: </a:t>
            </a:r>
            <a:r>
              <a:rPr lang="en-US" sz="2200" dirty="0"/>
              <a:t>Components can often be used in different parts of a system or even in other systems.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Replaceable: </a:t>
            </a:r>
            <a:r>
              <a:rPr lang="en-US" sz="2200" dirty="0"/>
              <a:t>If one component fails or needs to be upgraded, it can be replaced without affecting the rest of the system.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u="sng" dirty="0"/>
              <a:t>Modular: </a:t>
            </a:r>
            <a:r>
              <a:rPr lang="en-US" sz="2200" dirty="0"/>
              <a:t>Components are designed to work independently, which makes systems easier to maintain and scale.</a:t>
            </a:r>
            <a:endParaRPr lang="en-IN" sz="2200" i="1" dirty="0"/>
          </a:p>
        </p:txBody>
      </p:sp>
    </p:spTree>
    <p:extLst>
      <p:ext uri="{BB962C8B-B14F-4D97-AF65-F5344CB8AC3E}">
        <p14:creationId xmlns:p14="http://schemas.microsoft.com/office/powerpoint/2010/main" val="321746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Symbols of 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269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Component: </a:t>
            </a:r>
            <a:r>
              <a:rPr lang="en-US" sz="2200" dirty="0"/>
              <a:t>It represents a piece of software or a part of a system, like a login system or database.</a:t>
            </a:r>
            <a:endParaRPr lang="en-US" sz="2200" b="1" u="sng" dirty="0">
              <a:solidFill>
                <a:srgbClr val="7030A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Symbol: A rectangle with two smaller rectangles (like a tab) sticking out on the left side.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3074" name="Picture 2" descr="UML Component symbol: Do the two blocks on the left represent something  specific? - Stack Overflow">
            <a:extLst>
              <a:ext uri="{FF2B5EF4-FFF2-40B4-BE49-F238E27FC236}">
                <a16:creationId xmlns:a16="http://schemas.microsoft.com/office/drawing/2014/main" id="{3040F62C-0452-91D8-7F76-B4B832D97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882" y="3643603"/>
            <a:ext cx="3181738" cy="213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979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Symbols of 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2018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Interface:  </a:t>
            </a:r>
            <a:r>
              <a:rPr lang="en-US" sz="2200" dirty="0"/>
              <a:t>This shows how a component can interact with other parts, like a button to talk to another system.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Symbol: A small circle (called a "lollipop") connected to a component.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7771D-F57D-7215-603C-4CFD28BB4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310" y="3774369"/>
            <a:ext cx="3200400" cy="126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01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51846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Symbols of 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065500"/>
            <a:ext cx="11220060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Provided Interface: </a:t>
            </a:r>
            <a:r>
              <a:rPr lang="en-US" sz="2200" dirty="0"/>
              <a:t>This means the component is providing a way for others to use its functionality.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Symbol: A lollipop (circle) connected to a component.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Required Interface: </a:t>
            </a:r>
            <a:r>
              <a:rPr lang="en-US" sz="2200" dirty="0"/>
              <a:t>This means the component needs something from another part of the system to work.</a:t>
            </a:r>
            <a:endParaRPr lang="en-US" sz="2200" b="1" u="sng" dirty="0">
              <a:solidFill>
                <a:srgbClr val="7030A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Symbol: A half-circle (called a socket) connected to a component.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DF68B-5802-9725-529F-AE89AE39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853" y="5115391"/>
            <a:ext cx="4394718" cy="161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2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51846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Symbols of 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065500"/>
            <a:ext cx="11220060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Dependency: </a:t>
            </a:r>
            <a:r>
              <a:rPr lang="en-US" sz="2200" dirty="0"/>
              <a:t>It shows that one component depends on another to function properly.</a:t>
            </a:r>
            <a:endParaRPr lang="en-US" sz="2200" b="1" u="sng" dirty="0">
              <a:solidFill>
                <a:srgbClr val="7030A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Symbol: A dashed arrow.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algn="just">
              <a:lnSpc>
                <a:spcPct val="200000"/>
              </a:lnSpc>
            </a:pPr>
            <a:endParaRPr lang="en-US" sz="2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Connector: </a:t>
            </a:r>
            <a:r>
              <a:rPr lang="en-US" sz="2200" dirty="0"/>
              <a:t>It shows a connection or communication between two components.</a:t>
            </a:r>
            <a:endParaRPr lang="en-US" sz="2200" b="1" u="sng" dirty="0">
              <a:solidFill>
                <a:srgbClr val="7030A0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Symbol: A solid line with an arrow.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BC601-5230-EB0B-7CFE-F534257C3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894" y="1805279"/>
            <a:ext cx="2186473" cy="18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FFA012-AC27-1B3B-4358-1136225F2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620" y="4566537"/>
            <a:ext cx="2186474" cy="19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80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5"/>
            <a:ext cx="10972800" cy="43449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Components of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856733"/>
            <a:ext cx="11316477" cy="5404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ATM Machine (Main Component):</a:t>
            </a:r>
            <a:r>
              <a:rPr lang="en-US" sz="2200" dirty="0"/>
              <a:t>This is the physical machine you see and interact with. It includes parts like the screen, buttons, card reader, and cash dispenser.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User Interface (Sub-Component of ATM Machine):</a:t>
            </a:r>
            <a:r>
              <a:rPr lang="en-US" sz="2200" dirty="0"/>
              <a:t>This is the screen where you see options like "Withdraw" or "Check Balance" and interact with the machine.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Card Reader (Sub-Component of ATM Machine):</a:t>
            </a:r>
            <a:r>
              <a:rPr lang="en-US" sz="2200" dirty="0"/>
              <a:t>This is the slot where you insert your card. It reads the card's information, like your account details.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Cash Dispenser (Sub-Component of ATM Machine):</a:t>
            </a:r>
            <a:r>
              <a:rPr lang="en-US" sz="2200" dirty="0"/>
              <a:t>This is the part that gives you money after a successful withdrawal.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56576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41" y="550505"/>
            <a:ext cx="10972800" cy="43449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Components of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404054"/>
            <a:ext cx="11316477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Bank Database (Main Component):</a:t>
            </a:r>
            <a:r>
              <a:rPr lang="en-US" sz="2200" dirty="0"/>
              <a:t>This is the server that holds all your account information, like your balance and transaction history. It confirms whether you have enough money for a withdrawal.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Network (Main Component):</a:t>
            </a:r>
            <a:r>
              <a:rPr lang="en-US" sz="2200" dirty="0"/>
              <a:t>This is like the communication line between the ATM machine and the bank database. It sends your withdrawal request from the ATM to the bank’s system and receives confirmation back.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55890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3" y="39348"/>
            <a:ext cx="10972800" cy="55781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Component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1D7E0-94E7-3A66-A0B6-13026F1EE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6" y="1327355"/>
            <a:ext cx="10589342" cy="428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181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3461</TotalTime>
  <Words>639</Words>
  <Application>Microsoft Office PowerPoint</Application>
  <PresentationFormat>Widescreen</PresentationFormat>
  <Paragraphs>96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Times New Roman</vt:lpstr>
      <vt:lpstr>1_Office Theme</vt:lpstr>
      <vt:lpstr>2_Office Theme</vt:lpstr>
      <vt:lpstr>(21CC505PC)  SOFTWARE ENGINEERING LAB</vt:lpstr>
      <vt:lpstr>PowerPoint Presentation</vt:lpstr>
      <vt:lpstr>Component Diagram</vt:lpstr>
      <vt:lpstr>What are Components?</vt:lpstr>
      <vt:lpstr>Characteristics of Components</vt:lpstr>
      <vt:lpstr>Symbols of Component Diagram</vt:lpstr>
      <vt:lpstr>Symbols of Component Diagram</vt:lpstr>
      <vt:lpstr>Symbols of Component Diagram</vt:lpstr>
      <vt:lpstr>Symbols of Component Diagram</vt:lpstr>
      <vt:lpstr>Key Components of an ATM System</vt:lpstr>
      <vt:lpstr>Key Components of an ATM System</vt:lpstr>
      <vt:lpstr>Component Diagram for an ATM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(21DM601PC)    COMPUTER NETWORKS</dc:title>
  <dc:creator>Arshiya Begum</dc:creator>
  <cp:lastModifiedBy>Savitha Ramesh</cp:lastModifiedBy>
  <cp:revision>54</cp:revision>
  <dcterms:created xsi:type="dcterms:W3CDTF">2024-05-06T05:52:36Z</dcterms:created>
  <dcterms:modified xsi:type="dcterms:W3CDTF">2026-08-03T17:08:52Z</dcterms:modified>
</cp:coreProperties>
</file>