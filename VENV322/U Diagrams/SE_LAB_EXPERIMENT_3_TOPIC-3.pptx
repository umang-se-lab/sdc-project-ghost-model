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sldIdLst>
    <p:sldId id="539" r:id="rId3"/>
    <p:sldId id="260" r:id="rId4"/>
    <p:sldId id="289" r:id="rId5"/>
    <p:sldId id="568" r:id="rId6"/>
    <p:sldId id="580" r:id="rId7"/>
    <p:sldId id="581" r:id="rId8"/>
    <p:sldId id="582" r:id="rId9"/>
    <p:sldId id="583" r:id="rId10"/>
    <p:sldId id="584" r:id="rId11"/>
    <p:sldId id="585" r:id="rId12"/>
    <p:sldId id="575" r:id="rId13"/>
    <p:sldId id="576" r:id="rId14"/>
    <p:sldId id="577" r:id="rId15"/>
    <p:sldId id="5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6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8053-C215-4F1B-B034-F2CEC3A1265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86552-9209-4EF2-8CFF-E55CDE485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81;p1:notes">
            <a:extLst>
              <a:ext uri="{FF2B5EF4-FFF2-40B4-BE49-F238E27FC236}">
                <a16:creationId xmlns:a16="http://schemas.microsoft.com/office/drawing/2014/main" id="{6239290D-3E94-FAD0-7910-CDA7DFA9C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7" name="Google Shape;82;p1:notes">
            <a:extLst>
              <a:ext uri="{FF2B5EF4-FFF2-40B4-BE49-F238E27FC236}">
                <a16:creationId xmlns:a16="http://schemas.microsoft.com/office/drawing/2014/main" id="{1D7A565E-33A6-6574-9D57-CFC2299100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9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997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8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278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30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68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64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037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330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6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706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25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3907A-1C36-3163-8823-39841831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8931A-C565-4B1C-A936-B5CA39C7CD04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672E-874D-F919-479C-F31C3BA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8ECE-D04C-C905-0358-5B5D39EB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BF32D-9D31-4CD0-8B17-4D91DA246A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2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1D7-1939-0553-5E67-A22FC28F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7D29A-0C92-4523-9896-D9652EC576B2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8B85-1B14-EE11-13F3-127FED42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3CF1-EBBD-A551-2A94-5F2759A6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D0544-02C6-4C17-909A-13488D02D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89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CEC3E-474D-98B2-3DD8-0EC2FF85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20673-274D-4247-8161-F61D3918377A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E6C9-CE10-54A4-6BF2-3C303594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E9F0-4F49-EB73-7BA3-253B9F8D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55397-1D80-4F70-B204-8003AEC84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01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3347DC-8727-FA52-4FB3-EE5F5608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45F1D-49E8-4AA5-A8D5-1F2A72032E7E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464574-2B9D-B193-E3D1-685B45C9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14629F-CF96-8490-DD5A-8503BD83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FACD-FEE9-420D-9319-52C846BCA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3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ACE3BD-2A0C-3143-4897-C3B07CFE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3E46-4A0A-4700-BB68-A713045AC50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446A335-4366-4386-F3DB-BFBE5534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8C4C4E-AAC8-42C6-1613-DD4D6B7E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9C8EB-1648-4CB3-B1E5-AF02A07CF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2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3E63F7-92CB-461C-9F5A-288ECCB5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26748-7D61-4F99-BCB5-561B2FE29A7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E55E5BB-53D1-4D75-2095-0BE40C81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F9A2BE-1BD1-1D98-0C9B-04ECC323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82E88-B8D5-4CC6-A63E-A393B6012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44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1534290-0A37-B6B5-FECC-D8098B2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F073-1C86-4EAE-8379-A2D7EC9CB060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5B8E33-EEE4-B14A-5DD7-9AB6B8B7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030C33-B194-8041-4198-76B96221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356E0-C946-47CA-89DE-E46AEC7150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72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AE7F19-7B8D-7C13-C65A-C0B9FB1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7218-745A-4FC1-A09B-6783154A3601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42A6CA-9380-BC38-7749-26166894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137C3C-1528-39A5-2D44-3E37D4E2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6067-6868-471D-89D0-31576D514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061425-9B74-76D6-1FE8-DA3A496D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DA97-5C18-459E-9042-212CCF63C04F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CD01D3-2325-A61A-CE46-FC100BAE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CFFE4B-DD12-E0F2-761A-99A133B9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BADD7-0AAB-4DF4-A47E-DEFC59C86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9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64DB-4A11-4A09-0DCC-22DCD5F4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980CB-B09E-44F2-B85A-CC28BFF3936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C25F-F2EA-6F3C-AA22-17672639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7625-2F75-2E9C-173F-813E0BCA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B05AD-D529-4C46-BA41-798F8AAE7F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6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07AB-A758-7ACF-1EF5-39524460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4204F-497E-4357-BC10-5017874068A6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3595D-F878-D090-2021-A9C3B17B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7D67-0477-0305-7A3A-F5100530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B7426-2160-4114-9A12-2143FC702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39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14;p5">
            <a:extLst>
              <a:ext uri="{FF2B5EF4-FFF2-40B4-BE49-F238E27FC236}">
                <a16:creationId xmlns:a16="http://schemas.microsoft.com/office/drawing/2014/main" id="{DA90ECB4-5A99-18ED-D6A7-280396D61411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15;p5">
            <a:extLst>
              <a:ext uri="{FF2B5EF4-FFF2-40B4-BE49-F238E27FC236}">
                <a16:creationId xmlns:a16="http://schemas.microsoft.com/office/drawing/2014/main" id="{4E98BFAF-269A-752B-8FFA-422CB155D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16;p5">
            <a:extLst>
              <a:ext uri="{FF2B5EF4-FFF2-40B4-BE49-F238E27FC236}">
                <a16:creationId xmlns:a16="http://schemas.microsoft.com/office/drawing/2014/main" id="{209C6DAC-36B0-A431-08C5-015D8A87F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32BFBD3-3A94-49FD-90AB-D2D0890F1E46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699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259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37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1">
            <a:extLst>
              <a:ext uri="{FF2B5EF4-FFF2-40B4-BE49-F238E27FC236}">
                <a16:creationId xmlns:a16="http://schemas.microsoft.com/office/drawing/2014/main" id="{B8D0276B-A5BA-701B-29D0-8A840E48160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2;p11">
            <a:extLst>
              <a:ext uri="{FF2B5EF4-FFF2-40B4-BE49-F238E27FC236}">
                <a16:creationId xmlns:a16="http://schemas.microsoft.com/office/drawing/2014/main" id="{2CA0BFC4-CB42-33F6-DD82-90444FE9E52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53;p11">
            <a:extLst>
              <a:ext uri="{FF2B5EF4-FFF2-40B4-BE49-F238E27FC236}">
                <a16:creationId xmlns:a16="http://schemas.microsoft.com/office/drawing/2014/main" id="{EFB5FE0E-85F5-D188-5D1D-0CF289116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95F859B-F2B4-4294-AF96-B530928DD2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8265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143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313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63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504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9A36-F1DA-3FA1-A396-666A72C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CDB6FADF-BAB5-446B-A17D-DD63085ABEB1}" type="datetimeFigureOut">
              <a:rPr lang="en-IN"/>
              <a:pPr>
                <a:defRPr/>
              </a:pPr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B651-D4AE-77A8-E5A9-D59C080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9730-C064-0035-C593-35984FE8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68CD4C68-2984-4322-AC21-F4A5D84B5DE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0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5FE634-3DDB-58D6-B65B-BE2DECE51D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0AB312F-655A-B928-C716-7B725F4CBF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B2B1-EA7F-E5F9-DD89-79D9DBE92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4D4F82-FCE3-45D0-9DA8-4EAC396B1C73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376E-95ED-9CAB-4DDF-2479CA091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89FE-5D9F-0550-7A9D-3F8704A2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1F2F54-862E-40C7-885D-8EBAC84A3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25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4369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7580" y="597535"/>
            <a:ext cx="10953115" cy="2253615"/>
          </a:xfrm>
          <a:effectLst>
            <a:outerShdw dist="63500" sx="1000" sy="1000" algn="ctr" rotWithShape="0">
              <a:schemeClr val="accent2">
                <a:lumMod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(21CC505PC)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  <a:sym typeface="+mn-ea"/>
              </a:rPr>
              <a:t>SOFTWARE ENGINEERING LAB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03225" y="2979420"/>
            <a:ext cx="11456987" cy="319214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LAB EXERCISE - 3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 panose="020F0502020204030204" pitchFamily="34" charset="0"/>
              </a:rPr>
              <a:t>CASE TOOL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TOPIC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UML DIAGRAMS - CLASS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grpSp>
        <p:nvGrpSpPr>
          <p:cNvPr id="2052" name="Group 14"/>
          <p:cNvGrpSpPr/>
          <p:nvPr/>
        </p:nvGrpSpPr>
        <p:grpSpPr>
          <a:xfrm>
            <a:off x="403225" y="61913"/>
            <a:ext cx="11456988" cy="1116012"/>
            <a:chOff x="376972" y="40036"/>
            <a:chExt cx="11456149" cy="111615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23" y="40036"/>
              <a:ext cx="1069848" cy="86994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972" y="83215"/>
              <a:ext cx="1069848" cy="7440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289" y="83214"/>
              <a:ext cx="1069848" cy="7715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448405" y="905335"/>
              <a:ext cx="1904860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UPPAL CAMPUS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89920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NARAYANGUDA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l="7635" t="13601" r="2078" b="14170"/>
            <a:stretch>
              <a:fillRect/>
            </a:stretch>
          </p:blipFill>
          <p:spPr>
            <a:xfrm>
              <a:off x="10346348" y="46291"/>
              <a:ext cx="1069848" cy="8558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Rectangle 11"/>
            <p:cNvSpPr/>
            <p:nvPr/>
          </p:nvSpPr>
          <p:spPr>
            <a:xfrm>
              <a:off x="9929847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IBRAHIMPATNAM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1717675" y="2986088"/>
            <a:ext cx="8756650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SOFTWARE ENGINEERING LAB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(21CC505PC)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1194317"/>
            <a:ext cx="11220060" cy="1341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class diagram represents the structure of a system by showing its classes, their attributes, operations, and the relationships among objects.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FE883-2189-FA5A-30D6-733745802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514" y="2871677"/>
            <a:ext cx="6123992" cy="3827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Purpose of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class diagram shows how parts of a system are connected.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helps to understand how different things (called classes) work together.</a:t>
            </a:r>
          </a:p>
          <a:p>
            <a:pPr algn="just">
              <a:lnSpc>
                <a:spcPct val="200000"/>
              </a:lnSpc>
            </a:pPr>
            <a:r>
              <a:rPr lang="en-US" sz="2200" dirty="0"/>
              <a:t>Each class has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Attributes (details like color or size) and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Methods (actions it can do, like drive or stop).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lines between classes show how they relate to each other.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46797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What is a Class?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class is like a blueprint for an object (example: Car, Person, Dog).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has two main parts: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Attributes: </a:t>
            </a:r>
            <a:r>
              <a:rPr lang="en-US" sz="2200" dirty="0"/>
              <a:t>Details or characteristics (example: color, name, age).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Methods: </a:t>
            </a:r>
            <a:r>
              <a:rPr lang="en-US" sz="2200" dirty="0"/>
              <a:t>Things the class can do (example: drive, walk, bark).</a:t>
            </a:r>
            <a:endParaRPr lang="en-IN" sz="2200" dirty="0"/>
          </a:p>
        </p:txBody>
      </p:sp>
      <p:pic>
        <p:nvPicPr>
          <p:cNvPr id="2050" name="Picture 2" descr="Class Diagram Explained | EdrawMax Online">
            <a:extLst>
              <a:ext uri="{FF2B5EF4-FFF2-40B4-BE49-F238E27FC236}">
                <a16:creationId xmlns:a16="http://schemas.microsoft.com/office/drawing/2014/main" id="{973F27AF-BB0F-77C7-7EFF-ED39D8A3F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6" b="57902"/>
          <a:stretch/>
        </p:blipFill>
        <p:spPr bwMode="auto">
          <a:xfrm>
            <a:off x="3358729" y="4642367"/>
            <a:ext cx="3533775" cy="208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58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Attributes: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Attributes are the details about a class.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Example: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For a Car: color, model, speed.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For a Student: name, age, grade.</a:t>
            </a:r>
            <a:endParaRPr lang="en-IN" sz="2200" dirty="0"/>
          </a:p>
        </p:txBody>
      </p:sp>
      <p:pic>
        <p:nvPicPr>
          <p:cNvPr id="4" name="Picture 2" descr="Class Diagram Explained | EdrawMax Online">
            <a:extLst>
              <a:ext uri="{FF2B5EF4-FFF2-40B4-BE49-F238E27FC236}">
                <a16:creationId xmlns:a16="http://schemas.microsoft.com/office/drawing/2014/main" id="{93A186AC-4B05-140F-60CE-D1BB2B5E5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6" b="57902"/>
          <a:stretch/>
        </p:blipFill>
        <p:spPr bwMode="auto">
          <a:xfrm>
            <a:off x="6727080" y="2388637"/>
            <a:ext cx="3533775" cy="208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83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Methods: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Methods are actions the class can do.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Example: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For a Car: drive(), stop().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For a Student: study(), enroll().</a:t>
            </a:r>
            <a:endParaRPr lang="en-IN" sz="2200" dirty="0"/>
          </a:p>
        </p:txBody>
      </p:sp>
      <p:pic>
        <p:nvPicPr>
          <p:cNvPr id="4" name="Picture 2" descr="Class Diagram Explained | EdrawMax Online">
            <a:extLst>
              <a:ext uri="{FF2B5EF4-FFF2-40B4-BE49-F238E27FC236}">
                <a16:creationId xmlns:a16="http://schemas.microsoft.com/office/drawing/2014/main" id="{D7B5C280-DCD6-03B6-3090-93CD34C38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6" b="57902"/>
          <a:stretch/>
        </p:blipFill>
        <p:spPr bwMode="auto">
          <a:xfrm>
            <a:off x="6494787" y="2636908"/>
            <a:ext cx="3533775" cy="208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44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Classes can be connected to each other: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Association: 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Shows how classes work together (example: Teacher and Student).</a:t>
            </a:r>
          </a:p>
          <a:p>
            <a:pPr lvl="1" algn="just">
              <a:lnSpc>
                <a:spcPct val="200000"/>
              </a:lnSpc>
            </a:pPr>
            <a:endParaRPr lang="en-US" sz="2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Inheritance/Generalization: 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One class can inherit details from another (example: Dog inherits from Animal).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3DD00-BD07-058A-8B60-04CCB0BF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79" y="5451604"/>
            <a:ext cx="4413379" cy="809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287D0A-62B5-6062-4784-60B4F48DC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417" y="3294529"/>
            <a:ext cx="3956179" cy="91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4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Inheritance: 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Inheritance allows a class to use the properties of another class.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Example: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Animal class (with legs and eyes).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Dog class (inherits from Animal but adds barking).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3DD00-BD07-058A-8B60-04CCB0BF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518" y="5046985"/>
            <a:ext cx="4413379" cy="80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472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Relationships that can be used are: 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Association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Aggregation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Composition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Inheritance (Generalization)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Dependency</a:t>
            </a: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Realization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2820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4" y="414597"/>
            <a:ext cx="10972800" cy="11156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Steps to Draw a 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31237" y="1429926"/>
            <a:ext cx="11206065" cy="472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</a:rPr>
              <a:t>Identify the Main Classes: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Think about the main parts of the ATM system. These will be your classes.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Example classes: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ATM (the machine itself)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Customer (the person using the ATM)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Bank Account (the account connected to the ATM)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Withdrawal (action performed by the customer)</a:t>
            </a:r>
          </a:p>
        </p:txBody>
      </p:sp>
    </p:spTree>
    <p:extLst>
      <p:ext uri="{BB962C8B-B14F-4D97-AF65-F5344CB8AC3E}">
        <p14:creationId xmlns:p14="http://schemas.microsoft.com/office/powerpoint/2010/main" val="18464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4" y="414597"/>
            <a:ext cx="10972800" cy="11156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Steps to Draw a 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31237" y="1429926"/>
            <a:ext cx="11206065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</a:rPr>
              <a:t>Define Attributes for Each Class: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List the details or properties each class should have.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Example: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ATM: location, ATM_ID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Customer: name, </a:t>
            </a:r>
            <a:r>
              <a:rPr lang="en-US" sz="2200" dirty="0" err="1"/>
              <a:t>customerID</a:t>
            </a:r>
            <a:endParaRPr lang="en-US" sz="2200" dirty="0"/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BankAccount</a:t>
            </a:r>
            <a:r>
              <a:rPr lang="en-US" sz="2200" dirty="0"/>
              <a:t>: </a:t>
            </a:r>
            <a:r>
              <a:rPr lang="en-US" sz="2200" dirty="0" err="1"/>
              <a:t>accountNumber</a:t>
            </a:r>
            <a:r>
              <a:rPr lang="en-US" sz="2200" dirty="0"/>
              <a:t>, balance</a:t>
            </a:r>
          </a:p>
        </p:txBody>
      </p:sp>
    </p:spTree>
    <p:extLst>
      <p:ext uri="{BB962C8B-B14F-4D97-AF65-F5344CB8AC3E}">
        <p14:creationId xmlns:p14="http://schemas.microsoft.com/office/powerpoint/2010/main" val="81310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4" y="414597"/>
            <a:ext cx="10972800" cy="11156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Steps to Draw a 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31237" y="1429926"/>
            <a:ext cx="11206065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</a:rPr>
              <a:t>Define Methods for Each Class: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Identify what each class can do.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Example: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ATM: </a:t>
            </a:r>
            <a:r>
              <a:rPr lang="en-US" sz="2200" dirty="0" err="1"/>
              <a:t>authenticateUser</a:t>
            </a:r>
            <a:r>
              <a:rPr lang="en-US" sz="2200" dirty="0"/>
              <a:t>(), </a:t>
            </a:r>
            <a:r>
              <a:rPr lang="en-US" sz="2200" dirty="0" err="1"/>
              <a:t>dispenseCash</a:t>
            </a:r>
            <a:r>
              <a:rPr lang="en-US" sz="2200" dirty="0"/>
              <a:t>()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Customer: </a:t>
            </a:r>
            <a:r>
              <a:rPr lang="en-US" sz="2200" dirty="0" err="1"/>
              <a:t>insertCard</a:t>
            </a:r>
            <a:r>
              <a:rPr lang="en-US" sz="2200" dirty="0"/>
              <a:t>(), </a:t>
            </a:r>
            <a:r>
              <a:rPr lang="en-US" sz="2200" dirty="0" err="1"/>
              <a:t>enterPIN</a:t>
            </a:r>
            <a:r>
              <a:rPr lang="en-US" sz="2200" dirty="0"/>
              <a:t>()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BankAccount</a:t>
            </a:r>
            <a:r>
              <a:rPr lang="en-US" sz="2200" dirty="0"/>
              <a:t>: </a:t>
            </a:r>
            <a:r>
              <a:rPr lang="en-US" sz="2200" dirty="0" err="1"/>
              <a:t>checkBalance</a:t>
            </a:r>
            <a:r>
              <a:rPr lang="en-US" sz="2200" dirty="0"/>
              <a:t>(), </a:t>
            </a:r>
            <a:r>
              <a:rPr lang="en-US" sz="2200" dirty="0" err="1"/>
              <a:t>withdrawMoney</a:t>
            </a:r>
            <a:r>
              <a:rPr lang="en-US" sz="2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9111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3" y="39348"/>
            <a:ext cx="10972800" cy="55781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Class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98A254-33C4-492F-B0EC-0AFBE6C89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666" y="709126"/>
            <a:ext cx="9974424" cy="61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181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2775</TotalTime>
  <Words>544</Words>
  <Application>Microsoft Office PowerPoint</Application>
  <PresentationFormat>Widescreen</PresentationFormat>
  <Paragraphs>135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Times New Roman</vt:lpstr>
      <vt:lpstr>1_Office Theme</vt:lpstr>
      <vt:lpstr>2_Office Theme</vt:lpstr>
      <vt:lpstr>(21CC505PC)  SOFTWARE ENGINEERING LAB</vt:lpstr>
      <vt:lpstr>PowerPoint Presentation</vt:lpstr>
      <vt:lpstr>Class Diagram</vt:lpstr>
      <vt:lpstr>Purpose of a Use Case Diagram</vt:lpstr>
      <vt:lpstr>Class Diagram</vt:lpstr>
      <vt:lpstr>Class Diagram</vt:lpstr>
      <vt:lpstr>Class Diagram</vt:lpstr>
      <vt:lpstr>Relationships</vt:lpstr>
      <vt:lpstr>Relationships</vt:lpstr>
      <vt:lpstr>Relationships</vt:lpstr>
      <vt:lpstr>Steps to Draw a Use Case Diagram for an ATM System</vt:lpstr>
      <vt:lpstr>Steps to Draw a Use Case Diagram for an ATM System</vt:lpstr>
      <vt:lpstr>Steps to Draw a Use Case Diagram for an ATM System</vt:lpstr>
      <vt:lpstr>Class Diagram for an ATM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(21DM601PC)    COMPUTER NETWORKS</dc:title>
  <dc:creator>Arshiya Begum</dc:creator>
  <cp:lastModifiedBy>Savitha Ramesh</cp:lastModifiedBy>
  <cp:revision>49</cp:revision>
  <dcterms:created xsi:type="dcterms:W3CDTF">2024-05-06T05:52:36Z</dcterms:created>
  <dcterms:modified xsi:type="dcterms:W3CDTF">2026-07-31T07:40:29Z</dcterms:modified>
</cp:coreProperties>
</file>